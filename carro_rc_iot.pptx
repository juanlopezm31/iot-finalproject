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Felipe Cardenas Gonzalez" userId="2ad9831b-1046-4a9d-9ddf-f480ee8a7835" providerId="ADAL" clId="{F3A44082-F6D2-4A4A-9C0D-407730C092A0}"/>
    <pc:docChg chg="undo custSel modSld">
      <pc:chgData name="Juan Felipe Cardenas Gonzalez" userId="2ad9831b-1046-4a9d-9ddf-f480ee8a7835" providerId="ADAL" clId="{F3A44082-F6D2-4A4A-9C0D-407730C092A0}" dt="2026-05-25T13:43:08.890" v="246" actId="478"/>
      <pc:docMkLst>
        <pc:docMk/>
      </pc:docMkLst>
      <pc:sldChg chg="modSp mod">
        <pc:chgData name="Juan Felipe Cardenas Gonzalez" userId="2ad9831b-1046-4a9d-9ddf-f480ee8a7835" providerId="ADAL" clId="{F3A44082-F6D2-4A4A-9C0D-407730C092A0}" dt="2026-05-25T13:39:52.002" v="99" actId="20577"/>
        <pc:sldMkLst>
          <pc:docMk/>
          <pc:sldMk cId="0" sldId="258"/>
        </pc:sldMkLst>
        <pc:spChg chg="mod">
          <ac:chgData name="Juan Felipe Cardenas Gonzalez" userId="2ad9831b-1046-4a9d-9ddf-f480ee8a7835" providerId="ADAL" clId="{F3A44082-F6D2-4A4A-9C0D-407730C092A0}" dt="2026-05-25T13:39:52.002" v="99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Juan Felipe Cardenas Gonzalez" userId="2ad9831b-1046-4a9d-9ddf-f480ee8a7835" providerId="ADAL" clId="{F3A44082-F6D2-4A4A-9C0D-407730C092A0}" dt="2026-05-25T13:37:45.822" v="4" actId="20577"/>
        <pc:sldMkLst>
          <pc:docMk/>
          <pc:sldMk cId="0" sldId="259"/>
        </pc:sldMkLst>
        <pc:spChg chg="mod">
          <ac:chgData name="Juan Felipe Cardenas Gonzalez" userId="2ad9831b-1046-4a9d-9ddf-f480ee8a7835" providerId="ADAL" clId="{F3A44082-F6D2-4A4A-9C0D-407730C092A0}" dt="2026-05-25T13:37:45.822" v="4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Juan Felipe Cardenas Gonzalez" userId="2ad9831b-1046-4a9d-9ddf-f480ee8a7835" providerId="ADAL" clId="{F3A44082-F6D2-4A4A-9C0D-407730C092A0}" dt="2026-05-25T13:38:16.671" v="66" actId="1035"/>
        <pc:sldMkLst>
          <pc:docMk/>
          <pc:sldMk cId="0" sldId="261"/>
        </pc:sldMkLst>
        <pc:spChg chg="add del">
          <ac:chgData name="Juan Felipe Cardenas Gonzalez" userId="2ad9831b-1046-4a9d-9ddf-f480ee8a7835" providerId="ADAL" clId="{F3A44082-F6D2-4A4A-9C0D-407730C092A0}" dt="2026-05-25T13:37:50.415" v="5" actId="478"/>
          <ac:spMkLst>
            <pc:docMk/>
            <pc:sldMk cId="0" sldId="261"/>
            <ac:spMk id="38" creationId="{00000000-0000-0000-0000-000000000000}"/>
          </ac:spMkLst>
        </pc:spChg>
        <pc:spChg chg="del mod">
          <ac:chgData name="Juan Felipe Cardenas Gonzalez" userId="2ad9831b-1046-4a9d-9ddf-f480ee8a7835" providerId="ADAL" clId="{F3A44082-F6D2-4A4A-9C0D-407730C092A0}" dt="2026-05-25T13:37:55.573" v="11" actId="478"/>
          <ac:spMkLst>
            <pc:docMk/>
            <pc:sldMk cId="0" sldId="261"/>
            <ac:spMk id="39" creationId="{00000000-0000-0000-0000-000000000000}"/>
          </ac:spMkLst>
        </pc:spChg>
        <pc:spChg chg="del">
          <ac:chgData name="Juan Felipe Cardenas Gonzalez" userId="2ad9831b-1046-4a9d-9ddf-f480ee8a7835" providerId="ADAL" clId="{F3A44082-F6D2-4A4A-9C0D-407730C092A0}" dt="2026-05-25T13:38:00.116" v="12" actId="478"/>
          <ac:spMkLst>
            <pc:docMk/>
            <pc:sldMk cId="0" sldId="261"/>
            <ac:spMk id="40" creationId="{00000000-0000-0000-0000-000000000000}"/>
          </ac:spMkLst>
        </pc:spChg>
        <pc:spChg chg="mod">
          <ac:chgData name="Juan Felipe Cardenas Gonzalez" userId="2ad9831b-1046-4a9d-9ddf-f480ee8a7835" providerId="ADAL" clId="{F3A44082-F6D2-4A4A-9C0D-407730C092A0}" dt="2026-05-25T13:38:16.671" v="66" actId="1035"/>
          <ac:spMkLst>
            <pc:docMk/>
            <pc:sldMk cId="0" sldId="261"/>
            <ac:spMk id="41" creationId="{00000000-0000-0000-0000-000000000000}"/>
          </ac:spMkLst>
        </pc:spChg>
        <pc:spChg chg="mod">
          <ac:chgData name="Juan Felipe Cardenas Gonzalez" userId="2ad9831b-1046-4a9d-9ddf-f480ee8a7835" providerId="ADAL" clId="{F3A44082-F6D2-4A4A-9C0D-407730C092A0}" dt="2026-05-25T13:38:16.671" v="66" actId="1035"/>
          <ac:spMkLst>
            <pc:docMk/>
            <pc:sldMk cId="0" sldId="261"/>
            <ac:spMk id="42" creationId="{00000000-0000-0000-0000-000000000000}"/>
          </ac:spMkLst>
        </pc:spChg>
        <pc:spChg chg="mod">
          <ac:chgData name="Juan Felipe Cardenas Gonzalez" userId="2ad9831b-1046-4a9d-9ddf-f480ee8a7835" providerId="ADAL" clId="{F3A44082-F6D2-4A4A-9C0D-407730C092A0}" dt="2026-05-25T13:38:16.671" v="66" actId="1035"/>
          <ac:spMkLst>
            <pc:docMk/>
            <pc:sldMk cId="0" sldId="261"/>
            <ac:spMk id="43" creationId="{00000000-0000-0000-0000-000000000000}"/>
          </ac:spMkLst>
        </pc:spChg>
        <pc:spChg chg="mod">
          <ac:chgData name="Juan Felipe Cardenas Gonzalez" userId="2ad9831b-1046-4a9d-9ddf-f480ee8a7835" providerId="ADAL" clId="{F3A44082-F6D2-4A4A-9C0D-407730C092A0}" dt="2026-05-25T13:38:16.671" v="66" actId="1035"/>
          <ac:spMkLst>
            <pc:docMk/>
            <pc:sldMk cId="0" sldId="261"/>
            <ac:spMk id="44" creationId="{00000000-0000-0000-0000-000000000000}"/>
          </ac:spMkLst>
        </pc:spChg>
        <pc:spChg chg="mod">
          <ac:chgData name="Juan Felipe Cardenas Gonzalez" userId="2ad9831b-1046-4a9d-9ddf-f480ee8a7835" providerId="ADAL" clId="{F3A44082-F6D2-4A4A-9C0D-407730C092A0}" dt="2026-05-25T13:38:16.671" v="66" actId="1035"/>
          <ac:spMkLst>
            <pc:docMk/>
            <pc:sldMk cId="0" sldId="261"/>
            <ac:spMk id="45" creationId="{00000000-0000-0000-0000-000000000000}"/>
          </ac:spMkLst>
        </pc:spChg>
        <pc:spChg chg="mod">
          <ac:chgData name="Juan Felipe Cardenas Gonzalez" userId="2ad9831b-1046-4a9d-9ddf-f480ee8a7835" providerId="ADAL" clId="{F3A44082-F6D2-4A4A-9C0D-407730C092A0}" dt="2026-05-25T13:38:16.671" v="66" actId="1035"/>
          <ac:spMkLst>
            <pc:docMk/>
            <pc:sldMk cId="0" sldId="261"/>
            <ac:spMk id="46" creationId="{00000000-0000-0000-0000-000000000000}"/>
          </ac:spMkLst>
        </pc:spChg>
      </pc:sldChg>
      <pc:sldChg chg="addSp delSp modSp mod">
        <pc:chgData name="Juan Felipe Cardenas Gonzalez" userId="2ad9831b-1046-4a9d-9ddf-f480ee8a7835" providerId="ADAL" clId="{F3A44082-F6D2-4A4A-9C0D-407730C092A0}" dt="2026-05-25T13:43:08.890" v="246" actId="478"/>
        <pc:sldMkLst>
          <pc:docMk/>
          <pc:sldMk cId="0" sldId="262"/>
        </pc:sldMkLst>
        <pc:spChg chg="mod">
          <ac:chgData name="Juan Felipe Cardenas Gonzalez" userId="2ad9831b-1046-4a9d-9ddf-f480ee8a7835" providerId="ADAL" clId="{F3A44082-F6D2-4A4A-9C0D-407730C092A0}" dt="2026-05-25T13:39:45.138" v="89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Juan Felipe Cardenas Gonzalez" userId="2ad9831b-1046-4a9d-9ddf-f480ee8a7835" providerId="ADAL" clId="{F3A44082-F6D2-4A4A-9C0D-407730C092A0}" dt="2026-05-25T13:41:52.232" v="195" actId="20577"/>
          <ac:spMkLst>
            <pc:docMk/>
            <pc:sldMk cId="0" sldId="262"/>
            <ac:spMk id="8" creationId="{00000000-0000-0000-0000-000000000000}"/>
          </ac:spMkLst>
        </pc:spChg>
        <pc:spChg chg="add del mod">
          <ac:chgData name="Juan Felipe Cardenas Gonzalez" userId="2ad9831b-1046-4a9d-9ddf-f480ee8a7835" providerId="ADAL" clId="{F3A44082-F6D2-4A4A-9C0D-407730C092A0}" dt="2026-05-25T13:40:35.557" v="106" actId="478"/>
          <ac:spMkLst>
            <pc:docMk/>
            <pc:sldMk cId="0" sldId="262"/>
            <ac:spMk id="9" creationId="{00000000-0000-0000-0000-000000000000}"/>
          </ac:spMkLst>
        </pc:spChg>
        <pc:spChg chg="add del mod">
          <ac:chgData name="Juan Felipe Cardenas Gonzalez" userId="2ad9831b-1046-4a9d-9ddf-f480ee8a7835" providerId="ADAL" clId="{F3A44082-F6D2-4A4A-9C0D-407730C092A0}" dt="2026-05-25T13:42:12.380" v="244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uan Felipe Cardenas Gonzalez" userId="2ad9831b-1046-4a9d-9ddf-f480ee8a7835" providerId="ADAL" clId="{F3A44082-F6D2-4A4A-9C0D-407730C092A0}" dt="2026-05-25T13:40:57.609" v="135" actId="20577"/>
          <ac:spMkLst>
            <pc:docMk/>
            <pc:sldMk cId="0" sldId="262"/>
            <ac:spMk id="12" creationId="{00000000-0000-0000-0000-000000000000}"/>
          </ac:spMkLst>
        </pc:spChg>
        <pc:spChg chg="add del">
          <ac:chgData name="Juan Felipe Cardenas Gonzalez" userId="2ad9831b-1046-4a9d-9ddf-f480ee8a7835" providerId="ADAL" clId="{F3A44082-F6D2-4A4A-9C0D-407730C092A0}" dt="2026-05-25T13:40:28.948" v="104" actId="478"/>
          <ac:spMkLst>
            <pc:docMk/>
            <pc:sldMk cId="0" sldId="262"/>
            <ac:spMk id="13" creationId="{00000000-0000-0000-0000-000000000000}"/>
          </ac:spMkLst>
        </pc:spChg>
        <pc:spChg chg="mod">
          <ac:chgData name="Juan Felipe Cardenas Gonzalez" userId="2ad9831b-1046-4a9d-9ddf-f480ee8a7835" providerId="ADAL" clId="{F3A44082-F6D2-4A4A-9C0D-407730C092A0}" dt="2026-05-25T13:42:19.310" v="245" actId="313"/>
          <ac:spMkLst>
            <pc:docMk/>
            <pc:sldMk cId="0" sldId="262"/>
            <ac:spMk id="14" creationId="{00000000-0000-0000-0000-000000000000}"/>
          </ac:spMkLst>
        </pc:spChg>
        <pc:spChg chg="del">
          <ac:chgData name="Juan Felipe Cardenas Gonzalez" userId="2ad9831b-1046-4a9d-9ddf-f480ee8a7835" providerId="ADAL" clId="{F3A44082-F6D2-4A4A-9C0D-407730C092A0}" dt="2026-05-25T13:43:08.890" v="246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Juan Felipe Cardenas Gonzalez" userId="2ad9831b-1046-4a9d-9ddf-f480ee8a7835" providerId="ADAL" clId="{F3A44082-F6D2-4A4A-9C0D-407730C092A0}" dt="2026-05-25T13:43:08.890" v="246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Juan Felipe Cardenas Gonzalez" userId="2ad9831b-1046-4a9d-9ddf-f480ee8a7835" providerId="ADAL" clId="{F3A44082-F6D2-4A4A-9C0D-407730C092A0}" dt="2026-05-25T13:43:08.890" v="246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Juan Felipe Cardenas Gonzalez" userId="2ad9831b-1046-4a9d-9ddf-f480ee8a7835" providerId="ADAL" clId="{F3A44082-F6D2-4A4A-9C0D-407730C092A0}" dt="2026-05-25T13:43:08.890" v="246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Juan Felipe Cardenas Gonzalez" userId="2ad9831b-1046-4a9d-9ddf-f480ee8a7835" providerId="ADAL" clId="{F3A44082-F6D2-4A4A-9C0D-407730C092A0}" dt="2026-05-25T13:43:08.890" v="246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Juan Felipe Cardenas Gonzalez" userId="2ad9831b-1046-4a9d-9ddf-f480ee8a7835" providerId="ADAL" clId="{F3A44082-F6D2-4A4A-9C0D-407730C092A0}" dt="2026-05-25T13:43:08.890" v="246" actId="478"/>
          <ac:spMkLst>
            <pc:docMk/>
            <pc:sldMk cId="0" sldId="262"/>
            <ac:spMk id="21" creationId="{00000000-0000-0000-0000-000000000000}"/>
          </ac:spMkLst>
        </pc:spChg>
        <pc:spChg chg="del">
          <ac:chgData name="Juan Felipe Cardenas Gonzalez" userId="2ad9831b-1046-4a9d-9ddf-f480ee8a7835" providerId="ADAL" clId="{F3A44082-F6D2-4A4A-9C0D-407730C092A0}" dt="2026-05-25T13:43:08.890" v="246" actId="478"/>
          <ac:spMkLst>
            <pc:docMk/>
            <pc:sldMk cId="0" sldId="262"/>
            <ac:spMk id="22" creationId="{00000000-0000-0000-0000-000000000000}"/>
          </ac:spMkLst>
        </pc:spChg>
        <pc:spChg chg="del">
          <ac:chgData name="Juan Felipe Cardenas Gonzalez" userId="2ad9831b-1046-4a9d-9ddf-f480ee8a7835" providerId="ADAL" clId="{F3A44082-F6D2-4A4A-9C0D-407730C092A0}" dt="2026-05-25T13:43:08.890" v="246" actId="478"/>
          <ac:spMkLst>
            <pc:docMk/>
            <pc:sldMk cId="0" sldId="262"/>
            <ac:spMk id="23" creationId="{00000000-0000-0000-0000-000000000000}"/>
          </ac:spMkLst>
        </pc:spChg>
        <pc:spChg chg="del">
          <ac:chgData name="Juan Felipe Cardenas Gonzalez" userId="2ad9831b-1046-4a9d-9ddf-f480ee8a7835" providerId="ADAL" clId="{F3A44082-F6D2-4A4A-9C0D-407730C092A0}" dt="2026-05-25T13:43:08.890" v="246" actId="478"/>
          <ac:spMkLst>
            <pc:docMk/>
            <pc:sldMk cId="0" sldId="262"/>
            <ac:spMk id="24" creationId="{00000000-0000-0000-0000-000000000000}"/>
          </ac:spMkLst>
        </pc:spChg>
        <pc:spChg chg="del">
          <ac:chgData name="Juan Felipe Cardenas Gonzalez" userId="2ad9831b-1046-4a9d-9ddf-f480ee8a7835" providerId="ADAL" clId="{F3A44082-F6D2-4A4A-9C0D-407730C092A0}" dt="2026-05-25T13:43:08.890" v="246" actId="478"/>
          <ac:spMkLst>
            <pc:docMk/>
            <pc:sldMk cId="0" sldId="262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368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" y="100584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73152" y="201168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3152" y="301752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" y="402336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029200" y="4572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A2540"/>
                </a:solidFill>
              </a:rPr>
              <a:t>IoT</a:t>
            </a:r>
            <a:endParaRPr lang="en-US" sz="200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"/>
            <a:ext cx="3108960" cy="347472"/>
          </a:xfrm>
          <a:prstGeom prst="rect">
            <a:avLst/>
          </a:prstGeom>
          <a:solidFill>
            <a:srgbClr val="1E3A5F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320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A5FA"/>
                </a:solidFill>
              </a:rPr>
              <a:t>Internet de las Cosas · Universidad de La Sabana ·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8229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1F5F9"/>
                </a:solidFill>
              </a:rPr>
              <a:t>Carro RC IoT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3B82F6"/>
                </a:solidFill>
              </a:rPr>
              <a:t>ESP32 · MQTT · Android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Vehículo a escala controlado remotamente desde una app Android,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con telemetría de velocidad (RPM) en tiempo real vía broker MQTT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seguro desplegado en AWS EC2.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5029200" cy="96012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4864" cy="9601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94360" y="37124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A5FA"/>
                </a:solidFill>
              </a:rPr>
              <a:t>Juan Felipe Cárdenas González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005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A5FA"/>
                </a:solidFill>
              </a:rPr>
              <a:t>Juan Felipe López Moncada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A5FA"/>
                </a:solidFill>
              </a:rPr>
              <a:t>Samuel Guerrero Arcos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474720"/>
            <a:ext cx="822960" cy="10058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56616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21792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ESP32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223760" y="3474720"/>
            <a:ext cx="822960" cy="10058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56616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22376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Android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229600" y="3474720"/>
            <a:ext cx="822960" cy="10058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56616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22960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AWS EC2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</a:rPr>
              <a:t>Visión General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</a:rPr>
              <a:t>Problema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14884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Dificultad para el monitoreo y control remoto de variables críticas (velocidad y dirección) en prototipos de robótica móvil de bajo costo.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4408" y="1005840"/>
            <a:ext cx="274320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3264408" y="100584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1430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55848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</a:rPr>
              <a:t>Usuarios objetivo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55848" y="214884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Estudiantes de Ingeniería Informática y desarrolladores de sistemas embebidos que trabajan con prototipos de IoT.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08776" y="1005840"/>
            <a:ext cx="2743200" cy="36576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2"/>
          <p:cNvSpPr/>
          <p:nvPr/>
        </p:nvSpPr>
        <p:spPr>
          <a:xfrm>
            <a:off x="6208776" y="100584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1430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0216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</a:rPr>
              <a:t>Solución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00216" y="214884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Vehículo ESP32 controlado desde app Android (Jetpack Compose), reportando RPM en tiempo real via broker MQTT con TLS en AWS EC2.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</a:rPr>
              <a:t>Arquitectura del Sistema </a:t>
            </a:r>
            <a:r>
              <a:rPr lang="en-US" sz="3000" b="1" dirty="0" err="1">
                <a:solidFill>
                  <a:srgbClr val="F1F5F9"/>
                </a:solidFill>
              </a:rPr>
              <a:t>simplificada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43200" cy="6400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430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3192" y="1709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App Android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3192" y="2075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Jetpack Compose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93192" y="2377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UI Control Center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MqttManager TLS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74320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743200" cy="640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430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73552" y="1709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AWS EC2 Cloud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73552" y="2075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</a:rPr>
              <a:t>Broker Mosquitto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273552" y="2377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Puerto 8883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Encriptación TLS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0760" y="1005840"/>
            <a:ext cx="274320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4"/>
          <p:cNvSpPr/>
          <p:nvPr/>
        </p:nvSpPr>
        <p:spPr>
          <a:xfrm>
            <a:off x="6080760" y="1005840"/>
            <a:ext cx="2743200" cy="640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1430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53912" y="17099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Prototipo Embebido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53912" y="2075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</a:rPr>
              <a:t>ESP32 + Periféricos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153912" y="2377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94A3B8"/>
                </a:solidFill>
              </a:rPr>
              <a:t>BleDevice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L298N · HC-020K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063240" y="2258568"/>
            <a:ext cx="1371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19"/>
          <p:cNvSpPr/>
          <p:nvPr/>
        </p:nvSpPr>
        <p:spPr>
          <a:xfrm>
            <a:off x="2770632" y="35844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MQTTS TLS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5943600" y="2258568"/>
            <a:ext cx="13716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1"/>
          <p:cNvSpPr/>
          <p:nvPr/>
        </p:nvSpPr>
        <p:spPr>
          <a:xfrm>
            <a:off x="5650992" y="35844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B6D4"/>
                </a:solidFill>
              </a:rPr>
              <a:t>MQTTS TLS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2004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Publica comandos 2B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20040" y="3794760"/>
            <a:ext cx="1371600" cy="320040"/>
          </a:xfrm>
          <a:prstGeom prst="rect">
            <a:avLst/>
          </a:prstGeom>
          <a:solidFill>
            <a:srgbClr val="1A25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4"/>
          <p:cNvSpPr/>
          <p:nvPr/>
        </p:nvSpPr>
        <p:spPr>
          <a:xfrm>
            <a:off x="32004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Publica comandos 2B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691640" y="3794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196596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Broker enruta msgs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1965960" y="3794760"/>
            <a:ext cx="1371600" cy="320040"/>
          </a:xfrm>
          <a:prstGeom prst="rect">
            <a:avLst/>
          </a:prstGeom>
          <a:solidFill>
            <a:srgbClr val="1A25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28"/>
          <p:cNvSpPr/>
          <p:nvPr/>
        </p:nvSpPr>
        <p:spPr>
          <a:xfrm>
            <a:off x="196596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</a:rPr>
              <a:t>Broker enruta msgs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3337560" y="3794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361188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</a:rPr>
              <a:t>ESP32 aplica motores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611880" y="3794760"/>
            <a:ext cx="1371600" cy="320040"/>
          </a:xfrm>
          <a:prstGeom prst="rect">
            <a:avLst/>
          </a:prstGeom>
          <a:solidFill>
            <a:srgbClr val="1A25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2"/>
          <p:cNvSpPr/>
          <p:nvPr/>
        </p:nvSpPr>
        <p:spPr>
          <a:xfrm>
            <a:off x="361188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</a:rPr>
              <a:t>ESP32 aplica motores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4983480" y="3794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525780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</a:rPr>
              <a:t>RPM publicadas 250ms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5257800" y="3794760"/>
            <a:ext cx="1371600" cy="320040"/>
          </a:xfrm>
          <a:prstGeom prst="rect">
            <a:avLst/>
          </a:prstGeom>
          <a:solidFill>
            <a:srgbClr val="1A25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6"/>
          <p:cNvSpPr/>
          <p:nvPr/>
        </p:nvSpPr>
        <p:spPr>
          <a:xfrm>
            <a:off x="525780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</a:rPr>
              <a:t>RPM publicadas 250ms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320040" y="4251960"/>
            <a:ext cx="8503920" cy="594360"/>
          </a:xfrm>
          <a:prstGeom prst="rect">
            <a:avLst/>
          </a:prstGeom>
          <a:solidFill>
            <a:srgbClr val="1A2540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3" name="Text 38"/>
          <p:cNvSpPr/>
          <p:nvPr/>
        </p:nvSpPr>
        <p:spPr>
          <a:xfrm>
            <a:off x="457200" y="42976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</a:rPr>
              <a:t>⚡  Endpoint adicional: GET /status — Healthcheck HTTP local independiente del broker MQTT, responde aunque MQTT falle.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1F5F9"/>
                </a:solidFill>
              </a:rPr>
              <a:t>Tópicos</a:t>
            </a:r>
            <a:r>
              <a:rPr lang="en-US" sz="3000" b="1" dirty="0">
                <a:solidFill>
                  <a:srgbClr val="F1F5F9"/>
                </a:solidFill>
              </a:rPr>
              <a:t> G &amp; Payloads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19456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74904" y="960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Tópico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155448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569464" y="960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Publica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9080" y="960120"/>
            <a:ext cx="155448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123944" y="960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Suscribe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960120"/>
            <a:ext cx="64008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678424" y="960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QoS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960120"/>
            <a:ext cx="256032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318504" y="960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Payload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344168"/>
            <a:ext cx="2194560" cy="43891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74904" y="13441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</a:rPr>
              <a:t>carro/control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4600" y="1344168"/>
            <a:ext cx="1554480" cy="43891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569464" y="13441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App Android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69080" y="1344168"/>
            <a:ext cx="1554480" cy="43891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123944" y="13441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ESP32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23560" y="1344168"/>
            <a:ext cx="640080" cy="43891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678424" y="13441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1344168"/>
            <a:ext cx="2560320" cy="43891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318504" y="13441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2 bytes: dirección + velocidad PWM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1801368"/>
            <a:ext cx="219456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74904" y="18013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</a:rPr>
              <a:t>carro/telemetria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14600" y="1801368"/>
            <a:ext cx="155448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2569464" y="18013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ESP32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69080" y="1801368"/>
            <a:ext cx="155448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123944" y="18013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App Android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23560" y="1801368"/>
            <a:ext cx="64008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678424" y="18013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1801368"/>
            <a:ext cx="256032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6318504" y="18013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2 bytes: RPM_HIGH | RPM_LOW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2258568"/>
            <a:ext cx="2194560" cy="43891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374904" y="22585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</a:rPr>
              <a:t>carro/status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14600" y="2258568"/>
            <a:ext cx="1554480" cy="43891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2569464" y="22585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ESP32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069080" y="2258568"/>
            <a:ext cx="1554480" cy="43891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4123944" y="22585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App Android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23560" y="2258568"/>
            <a:ext cx="640080" cy="43891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5678424" y="22585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63640" y="2258568"/>
            <a:ext cx="2560320" cy="43891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6318504" y="22585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JSON: status, uptime_s, rpm, rssi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2788920"/>
            <a:ext cx="4251960" cy="210312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320040" y="2788920"/>
            <a:ext cx="425196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11480" y="28529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carro/control — Formato Payload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11480" y="3246120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Byte 0 — Dirección: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  0x46 ('F') Adelante  |  0x42 ('B') Atrás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  0x4C ('L') Izquierda  |  0x52 ('R') Derecha  |  0x53 ('S') Stop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Byte 1 — Velocidad PWM: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  0x00–0xFF (0–255)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</a:rPr>
              <a:t>Ejemplo: [0x46, 0x80] = Adelante a 128/255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46320" y="2788920"/>
            <a:ext cx="3977640" cy="210312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4846320" y="2788920"/>
            <a:ext cx="39776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493776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carro/telemetria — Formato Payload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937760" y="324612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Byte 0: RPM_HIGH (más significativo)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Byte 1: RPM_LOW (menos significativo)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RPM = (Byte0 &lt;&lt; 8) | Byte1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6B6D4"/>
                </a:solidFill>
              </a:rPr>
              <a:t>Ejemplo: [0x01, 0xF4] = 500 RPM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Frecuencia de publicación: cada 250 ms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</a:rPr>
              <a:t>Hardware &amp; Esquemático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01168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</a:rPr>
              <a:t>Componente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960120"/>
            <a:ext cx="45720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377440" y="960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</a:rPr>
              <a:t>Cant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960120"/>
            <a:ext cx="100584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834640" y="96012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</a:rPr>
              <a:t>Costo COP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94760" y="960120"/>
            <a:ext cx="192024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840480" y="9601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</a:rPr>
              <a:t>Función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307592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65760" y="130759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ESP32 DevKit V1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31720" y="1307592"/>
            <a:ext cx="45720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377440" y="130759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88920" y="1307592"/>
            <a:ext cx="10058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834640" y="1307592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$35.000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94760" y="1307592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840480" y="13075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Microcontrolador, WiFi, lógica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1691640"/>
            <a:ext cx="201168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65760" y="169164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Puente H L298N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31720" y="1691640"/>
            <a:ext cx="45720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2377440" y="1691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88920" y="1691640"/>
            <a:ext cx="100584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834640" y="169164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$18.000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94760" y="1691640"/>
            <a:ext cx="192024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840480" y="169164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Driver motores DC (2A/canal)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075688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65760" y="207568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Kit chasis + motores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31720" y="2075688"/>
            <a:ext cx="45720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2377440" y="20756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88920" y="2075688"/>
            <a:ext cx="10058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2834640" y="207568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$40.000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94760" y="2075688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3840480" y="20756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Estructura mecánica del vehículo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2459736"/>
            <a:ext cx="201168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365760" y="245973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Sensor HC-020K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31720" y="2459736"/>
            <a:ext cx="45720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2377440" y="24597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88920" y="2459736"/>
            <a:ext cx="100584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2834640" y="2459736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$8.000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794760" y="2459736"/>
            <a:ext cx="192024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3840480" y="245973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Disco ranurado + fototransistor RPM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2843784"/>
            <a:ext cx="201168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365760" y="284378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Pilas AA × 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331720" y="2843784"/>
            <a:ext cx="45720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2377440" y="284378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88920" y="2843784"/>
            <a:ext cx="10058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2834640" y="284378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</a:rPr>
              <a:t>$20.000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94760" y="2843784"/>
            <a:ext cx="19202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Text 50"/>
          <p:cNvSpPr/>
          <p:nvPr/>
        </p:nvSpPr>
        <p:spPr>
          <a:xfrm>
            <a:off x="3840480" y="284378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Alimentación motores (~6V)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3227832"/>
            <a:ext cx="201168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365760" y="32278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</a:rPr>
              <a:t>TOTAL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31720" y="3227832"/>
            <a:ext cx="45720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2377440" y="32278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88920" y="3227832"/>
            <a:ext cx="100584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2834640" y="3227832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</a:rPr>
              <a:t>$121.000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794760" y="3227832"/>
            <a:ext cx="192024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0" name="Text 58"/>
          <p:cNvSpPr/>
          <p:nvPr/>
        </p:nvSpPr>
        <p:spPr>
          <a:xfrm>
            <a:off x="3840480" y="322783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760720" y="960120"/>
            <a:ext cx="3063240" cy="352044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2" name="Shape 60"/>
          <p:cNvSpPr/>
          <p:nvPr/>
        </p:nvSpPr>
        <p:spPr>
          <a:xfrm>
            <a:off x="5760720" y="960120"/>
            <a:ext cx="3063240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5852160" y="1024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</a:rPr>
              <a:t>Pinout ESP32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806440" y="1426464"/>
            <a:ext cx="2971800" cy="38404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5" name="Text 63"/>
          <p:cNvSpPr/>
          <p:nvPr/>
        </p:nvSpPr>
        <p:spPr>
          <a:xfrm>
            <a:off x="585216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ENA (Motor A)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995160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</a:rPr>
              <a:t>GPIO 25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790688" y="14630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PWM motor izq.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806440" y="1883664"/>
            <a:ext cx="2971800" cy="384048"/>
          </a:xfrm>
          <a:prstGeom prst="rect">
            <a:avLst/>
          </a:prstGeom>
          <a:solidFill>
            <a:srgbClr val="1A25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9" name="Text 67"/>
          <p:cNvSpPr/>
          <p:nvPr/>
        </p:nvSpPr>
        <p:spPr>
          <a:xfrm>
            <a:off x="585216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IN1 / IN2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995160" y="1920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</a:rPr>
              <a:t>GPIO 26/27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790688" y="19202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Dirección motor izq.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806440" y="2340864"/>
            <a:ext cx="2971800" cy="38404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3" name="Text 71"/>
          <p:cNvSpPr/>
          <p:nvPr/>
        </p:nvSpPr>
        <p:spPr>
          <a:xfrm>
            <a:off x="585216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ENB (Motor B)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995160" y="2377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</a:rPr>
              <a:t>GPIO 33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790688" y="23774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PWM motor der.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806440" y="2798064"/>
            <a:ext cx="2971800" cy="384048"/>
          </a:xfrm>
          <a:prstGeom prst="rect">
            <a:avLst/>
          </a:prstGeom>
          <a:solidFill>
            <a:srgbClr val="1A25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7" name="Text 75"/>
          <p:cNvSpPr/>
          <p:nvPr/>
        </p:nvSpPr>
        <p:spPr>
          <a:xfrm>
            <a:off x="585216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IN3 / IN4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995160" y="2834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</a:rPr>
              <a:t>GPIO 12/14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790688" y="28346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Dirección motor der.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806440" y="3255264"/>
            <a:ext cx="2971800" cy="38404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1" name="Text 79"/>
          <p:cNvSpPr/>
          <p:nvPr/>
        </p:nvSpPr>
        <p:spPr>
          <a:xfrm>
            <a:off x="5852160" y="3291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Sensor RPM OUT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995160" y="32918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</a:rPr>
              <a:t>GPIO 34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790688" y="32918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Pulsos digitales ISR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20040" y="4572000"/>
            <a:ext cx="5212080" cy="411480"/>
          </a:xfrm>
          <a:prstGeom prst="rect">
            <a:avLst/>
          </a:prstGeom>
          <a:solidFill>
            <a:srgbClr val="1A2540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5" name="Text 83"/>
          <p:cNvSpPr/>
          <p:nvPr/>
        </p:nvSpPr>
        <p:spPr>
          <a:xfrm>
            <a:off x="411480" y="4590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D399"/>
                </a:solidFill>
              </a:rPr>
              <a:t>💰  Costo total del prototipo: $121.000 COP — solución de bajo costo accesible para estudiantes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</a:rPr>
              <a:t>Watchdog de Seguridad &amp; TLS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73736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5720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</a:rPr>
              <a:t>Inicio loop()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</a:rPr>
              <a:t>ESP32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1737360" cy="640080"/>
          </a:xfrm>
          <a:prstGeom prst="rect">
            <a:avLst/>
          </a:prstGeom>
          <a:solidFill>
            <a:srgbClr val="1A2540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572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</a:rPr>
              <a:t>¿Llego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</a:rPr>
              <a:t>mensaje MQTT?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965960"/>
            <a:ext cx="173736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286000" y="1965960"/>
            <a:ext cx="45720" cy="6400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377440" y="1965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</a:rPr>
              <a:t>Actualizar motores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</a:rPr>
              <a:t>+ Reiniciar timer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1737360" cy="640080"/>
          </a:xfrm>
          <a:prstGeom prst="rect">
            <a:avLst/>
          </a:prstGeom>
          <a:solidFill>
            <a:srgbClr val="1A2540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572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</a:rPr>
              <a:t>¿millis - t_ult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</a:rPr>
              <a:t>&gt; 1500 ms?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3017520"/>
            <a:ext cx="173736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2286000" y="3017520"/>
            <a:ext cx="45720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2377440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</a:rPr>
              <a:t>WATCHDOG: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</a:rPr>
              <a:t>Frenado de emergencia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069080"/>
            <a:ext cx="173736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45720" cy="64008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1F5F9"/>
                </a:solidFill>
              </a:rPr>
              <a:t>Fin ciclo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34440" y="1737360"/>
            <a:ext cx="0" cy="22860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1234440" y="2606040"/>
            <a:ext cx="0" cy="41148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1234440" y="1965960"/>
            <a:ext cx="1051560" cy="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554480" y="1874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Sí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234440" y="3017520"/>
            <a:ext cx="105156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1554480" y="2926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</a:rPr>
              <a:t>Sí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234440" y="3657600"/>
            <a:ext cx="0" cy="41148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822960" y="2926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No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89120" y="1005840"/>
            <a:ext cx="443484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389120" y="1005840"/>
            <a:ext cx="44348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097280"/>
            <a:ext cx="411480" cy="41148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493776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Seguridad TLS / MQTTS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480560" y="1600200"/>
            <a:ext cx="4251960" cy="65836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3"/>
          <p:cNvSpPr/>
          <p:nvPr/>
        </p:nvSpPr>
        <p:spPr>
          <a:xfrm>
            <a:off x="4572000" y="16367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🔐 Certificado TLS autofirmado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72000" y="19019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 propia distribuida a ESP32 y app Android. Puerto 8883 exclusivo para MQTTS.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480560" y="2328092"/>
            <a:ext cx="4251960" cy="65836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39"/>
          <p:cNvSpPr/>
          <p:nvPr/>
        </p:nvSpPr>
        <p:spPr>
          <a:xfrm>
            <a:off x="4572000" y="23646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📱 HiveMQ Client (Android)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572000" y="26298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Librería v1.3.3 con soporte TLS nativo; usa SSLSocketFactory configurado con la CA.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480560" y="3077900"/>
            <a:ext cx="4251960" cy="658368"/>
          </a:xfrm>
          <a:prstGeom prst="rect">
            <a:avLst/>
          </a:prstGeom>
          <a:solidFill>
            <a:srgbClr val="1A25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42"/>
          <p:cNvSpPr/>
          <p:nvPr/>
        </p:nvSpPr>
        <p:spPr>
          <a:xfrm>
            <a:off x="4572000" y="31144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🛡️ Sin autenticación HTTP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572000" y="33796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El endpoint GET /status en red local no requiere credenciales — limitación conocida.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1F5F9"/>
                </a:solidFill>
              </a:rPr>
              <a:t>Librerías</a:t>
            </a:r>
            <a:r>
              <a:rPr lang="en-US" sz="3000" b="1" dirty="0">
                <a:solidFill>
                  <a:srgbClr val="F1F5F9"/>
                </a:solidFill>
              </a:rPr>
              <a:t> </a:t>
            </a:r>
            <a:r>
              <a:rPr lang="en-US" sz="3000" b="1" dirty="0" err="1">
                <a:solidFill>
                  <a:srgbClr val="F1F5F9"/>
                </a:solidFill>
              </a:rPr>
              <a:t>Utilizadas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</a:rPr>
              <a:t>ESP32 / Arduino IDE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44168"/>
            <a:ext cx="4160520" cy="42062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93192" y="13898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A5FA"/>
                </a:solidFill>
              </a:rPr>
              <a:t>BLE2908.h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3898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</a:rPr>
              <a:t>Buit-in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90088" y="13898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Descriptor </a:t>
            </a:r>
            <a:r>
              <a:rPr lang="en-US" sz="900" dirty="0" err="1">
                <a:solidFill>
                  <a:srgbClr val="94A3B8"/>
                </a:solidFill>
              </a:rPr>
              <a:t>necesario</a:t>
            </a:r>
            <a:r>
              <a:rPr lang="en-US" sz="900" dirty="0">
                <a:solidFill>
                  <a:srgbClr val="94A3B8"/>
                </a:solidFill>
              </a:rPr>
              <a:t> para notify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4160520" cy="42062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93192" y="18288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60A5FA"/>
                </a:solidFill>
              </a:rPr>
              <a:t>BLEServer.h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18288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</a:rPr>
              <a:t>Built-in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90088" y="18288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Conexion Bluetooth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960120"/>
            <a:ext cx="402336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92040" y="9601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</a:rPr>
              <a:t>Android / Kotlin (Gradle)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1344168"/>
            <a:ext cx="4023360" cy="35661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873752" y="1380744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HiveMQ MQTT Client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83680" y="1380744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</a:rPr>
              <a:t>1.3.3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16368" y="138074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MQTT con TLS nativo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00600" y="1719072"/>
            <a:ext cx="4023360" cy="35661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873752" y="1755648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Jetpack Compose BOM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83680" y="1755648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</a:rPr>
              <a:t>2024.12.01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516368" y="1755648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UI declarativa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00600" y="2093976"/>
            <a:ext cx="4023360" cy="35661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4873752" y="2130552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material3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83680" y="2130552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</a:rPr>
              <a:t>BOM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516368" y="2130552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Material Design 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00600" y="2468880"/>
            <a:ext cx="4023360" cy="35661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4873752" y="2505456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lifecycle-viewmodel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83680" y="250545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</a:rPr>
              <a:t>2.8.7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516368" y="2505456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ViewModel + Compose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00600" y="2843784"/>
            <a:ext cx="4023360" cy="35661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4873752" y="2880360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lifecycle-runtime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83680" y="2880360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</a:rPr>
              <a:t>2.8.7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516368" y="2880360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collectAsStateWithLifecycle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00600" y="3218688"/>
            <a:ext cx="4023360" cy="35661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4873752" y="3255264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accompanist-permissions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83680" y="3255264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</a:rPr>
              <a:t>0.36.0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516368" y="3255264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Permisos en runtime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00600" y="3593592"/>
            <a:ext cx="4023360" cy="35661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4873752" y="3630168"/>
            <a:ext cx="1691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</a:rPr>
              <a:t>activity-compose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83680" y="3630168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</a:rPr>
              <a:t>1.9.3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16368" y="3630168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Activity con Compose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</a:rPr>
              <a:t>Limitaciones &amp; Mejoras Futuras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36576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</a:rPr>
              <a:t>⚠  Limitaciones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411480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36576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02336" y="13716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Ruido HC-020K: varianza ±300 RPM por vibración + bouncing eléctrico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792224"/>
            <a:ext cx="41148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20040" y="1792224"/>
            <a:ext cx="36576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02336" y="18105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Un solo usuario simultáneo (watchdog conflicto con múltiples clientes)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231136"/>
            <a:ext cx="411480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20040" y="2231136"/>
            <a:ext cx="36576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02336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IP dinámica del ESP32 (puede cambiar entre reinicios)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41148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20040" y="2670048"/>
            <a:ext cx="36576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02336" y="26883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Sin persistencia de telemetría (datos perdidos si app está cerrada)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411480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36576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02336" y="31272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Certificado TLS autofirmado (distribución manual de ca.crt)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547872"/>
            <a:ext cx="41148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20040" y="3547872"/>
            <a:ext cx="36576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02336" y="3566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Sin autenticación en GET /status (cualquier device en red local)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986784"/>
            <a:ext cx="411480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20040" y="3986784"/>
            <a:ext cx="36576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02336" y="40050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Autonomía ~30–60 min con 4 pilas AA a plena carga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960120"/>
            <a:ext cx="4023360" cy="365760"/>
          </a:xfrm>
          <a:prstGeom prst="rect">
            <a:avLst/>
          </a:prstGeom>
          <a:solidFill>
            <a:srgbClr val="064E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89204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✨  Mejoras Futuras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1353312"/>
            <a:ext cx="402336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800600" y="1353312"/>
            <a:ext cx="36576" cy="4114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882896" y="13716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Filtro media móvil en RPM (mayor impacto, menor esfuerzo)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1792224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4800600" y="1792224"/>
            <a:ext cx="36576" cy="4114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882896" y="181051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Condensador 100nF anti-rebote por hardware en sensor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2231136"/>
            <a:ext cx="402336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4800600" y="2231136"/>
            <a:ext cx="36576" cy="4114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4882896" y="224942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InfluxDB / TimescaleDB para historial de telemetría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2670048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4800600" y="2670048"/>
            <a:ext cx="36576" cy="4114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4882896" y="26883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Dashboard Grafana / Node-RED vía broker MQTT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3108960"/>
            <a:ext cx="402336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4800600" y="3108960"/>
            <a:ext cx="36576" cy="4114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4882896" y="312724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Certificado Let's Encrypt (eliminar distribución manual)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3547872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4800600" y="3547872"/>
            <a:ext cx="36576" cy="4114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882896" y="35661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Joystick virtual analógico (dirección + velocidad simultánea)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00600" y="3986784"/>
            <a:ext cx="402336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4800600" y="3986784"/>
            <a:ext cx="36576" cy="4114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4882896" y="40050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OTA (ArduinoOTA) para updates sin cable USB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5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</a:rPr>
              <a:t>Conclusiones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743200" cy="173736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✅ Objetivo alcanzado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Prototipo funcional de vehículo IoT con control remoto y telemetría en tiempo real sobre infraestructura cloud real (AWS EC2).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1051560"/>
            <a:ext cx="2743200" cy="173736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264408" y="10515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355848" y="1143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🔒 Seguridad implementada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5544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Comunicación cifrada end-to-end con TLS en broker Mosquitto, replicando prácticas de producción en un contexto académico.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08776" y="1051560"/>
            <a:ext cx="2743200" cy="173736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208776" y="10515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300216" y="1143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📊 Telemetría observable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0216" y="15544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RPM medidas y transmitidas cada 250 ms permiten monitorear el comportamiento del vehículo desde cualquier ubicación con internet.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18488" y="3108960"/>
            <a:ext cx="2743200" cy="173736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1618488" y="31089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709928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🛡️ Robustez ante fallos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09928" y="3611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El watchdog de 1.5 s garantiza frenado de emergencia automático ante pérdida de señal, evitando comportamiento indefinido.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62856" y="3108960"/>
            <a:ext cx="2743200" cy="173736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562856" y="31089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654296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📚 Aprendizaje integral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54296" y="3611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El proyecto integra firmware embebido, desarrollo Android, infraestructura cloud y protocolos IoT en una sola solución cohesionada.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A254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A2540">
              <a:alpha val="6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1F5F9"/>
                </a:solidFill>
              </a:rPr>
              <a:t>¡Gracias!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Carro RC IoT — ESP32 + MQTT + Android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Internet de las Cosas · Universidad de La Sabana ·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</a:rPr>
              <a:t>Juan Felipe Cárdenas González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Estudiante de Ingeniería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</a:rPr>
              <a:t>Juan Felipe López Moncada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Estudiante de Ingeniería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</a:rPr>
              <a:t>Samuel Guerrero Arcos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Estudiante de Ingeniería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1508760" cy="347472"/>
          </a:xfrm>
          <a:prstGeom prst="roundRect">
            <a:avLst>
              <a:gd name="adj" fmla="val 1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4572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4864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</a:rPr>
              <a:t>ESP32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48840" y="2926080"/>
            <a:ext cx="1508760" cy="347472"/>
          </a:xfrm>
          <a:prstGeom prst="roundRect">
            <a:avLst>
              <a:gd name="adj" fmla="val 1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2148840" y="2926080"/>
            <a:ext cx="45720" cy="34747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224028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MQTT TLS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0" y="2926080"/>
            <a:ext cx="1508760" cy="347472"/>
          </a:xfrm>
          <a:prstGeom prst="roundRect">
            <a:avLst>
              <a:gd name="adj" fmla="val 1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840480" y="2926080"/>
            <a:ext cx="45720" cy="34747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93192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</a:rPr>
              <a:t>AWS EC2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32120" y="2926080"/>
            <a:ext cx="1508760" cy="347472"/>
          </a:xfrm>
          <a:prstGeom prst="roundRect">
            <a:avLst>
              <a:gd name="adj" fmla="val 1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5532120" y="2926080"/>
            <a:ext cx="45720" cy="347472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62356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</a:rPr>
              <a:t>Jetpack Compose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23760" y="2926080"/>
            <a:ext cx="1508760" cy="347472"/>
          </a:xfrm>
          <a:prstGeom prst="roundRect">
            <a:avLst>
              <a:gd name="adj" fmla="val 1842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7223760" y="2926080"/>
            <a:ext cx="45720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731520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HC-020K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ca51631-00fe-490d-91ab-163ef87260ee}" enabled="0" method="" siteId="{aca51631-00fe-490d-91ab-163ef87260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1014</Words>
  <Application>Microsoft Office PowerPoint</Application>
  <PresentationFormat>Presentación en pantalla (16:9)</PresentationFormat>
  <Paragraphs>230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Carro RC IoT — ESP32 + MQTT + Android</dc:title>
  <dc:subject>PptxGenJS Presentation</dc:subject>
  <dc:creator>Internet de las Cosas — Universidad de La Sabana</dc:creator>
  <cp:lastModifiedBy>Juan Felipe Cardenas Gonzalez</cp:lastModifiedBy>
  <cp:revision>2</cp:revision>
  <dcterms:created xsi:type="dcterms:W3CDTF">2026-05-24T00:55:58Z</dcterms:created>
  <dcterms:modified xsi:type="dcterms:W3CDTF">2026-05-25T13:43:18Z</dcterms:modified>
</cp:coreProperties>
</file>