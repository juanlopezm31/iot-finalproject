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10058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20116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" y="3017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" y="4023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4572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540"/>
                </a:solidFill>
              </a:rPr>
              <a:t>IoT</a:t>
            </a:r>
            <a:endParaRPr lang="en-US" sz="20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31089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Internet de las Cosas · Universidad de La Sabana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1F5F9"/>
                </a:solidFill>
              </a:rPr>
              <a:t>Carro RC IoT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B82F6"/>
                </a:solidFill>
              </a:rPr>
              <a:t>ESP32 · MQTT · Android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Vehículo a escala controlado remotamente desde una app Android,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 telemetría de velocidad (RPM) en tiempo real vía broker MQTT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seguro desplegado en AWS EC2.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0292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5760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Juan Felipe Cárdenas González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Juan Felipe López Moncada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Samuel Guerrero Arcos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56616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ESP32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2376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5661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Android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22960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5661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296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AWS EC2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Visión General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Problema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Dificultad para el monitoreo y control remoto de variables críticas (velocidad y dirección) en prototipos de robótica móvil de bajo costo.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00584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Usuarios objetivo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Estudiantes de Ingeniería Informática y desarrolladores de sistemas embebidos que trabajan con prototipos de IoT.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08776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08776" y="100584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143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Solución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0216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Vehículo ESP32 controlado desde app Android (Jetpack Compose), reportando RPM en tiempo real via broker MQTT con TLS en AWS EC2.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Arquitectura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App Android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Jetpack Compose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UI Control Center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MqttManager TLS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1430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7355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AWS EC2 Cloud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7355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Broker Mosquitto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7355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Puerto 8883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Encriptación TLS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430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391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Prototipo Embebido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5391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ESP32 + Periféricos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5391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WiFiClientSecure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L298N · HC-020K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063240" y="2258568"/>
            <a:ext cx="1371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2770632" y="3584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MQTTS TLS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943600" y="2258568"/>
            <a:ext cx="13716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5650992" y="3584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MQTTS TLS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Publica comandos 2B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9" name="Text 24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Publica comandos 2B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69164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Broker enruta msgs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3" name="Text 28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Broker enruta msgs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333756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ESP32 aplica motores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7" name="Text 32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ESP32 aplica motores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98348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RPM publicadas 250ms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1" name="Text 36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RPM publicadas 250ms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457200" y="4297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⚡  Endpoint adicional: GET /status — Healthcheck HTTP local independiente del broker MQTT, responde aunque MQTT falle.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Tópicos MQTT &amp; Payloads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19456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Tópico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554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569464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Publica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960120"/>
            <a:ext cx="1554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123944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Suscribe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960120"/>
            <a:ext cx="6400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678424" y="960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QoS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25603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960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Payload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344168"/>
            <a:ext cx="219456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" y="13441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carro/control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3441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2569464" y="1344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3441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4123944" y="1344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3560" y="1344168"/>
            <a:ext cx="6400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5678424" y="13441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344168"/>
            <a:ext cx="256032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1344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 bytes: dirección + velocidad PWM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801368"/>
            <a:ext cx="21945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" y="1801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carro/telemetria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1801368"/>
            <a:ext cx="1554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2569464" y="18013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1801368"/>
            <a:ext cx="1554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123944" y="18013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1801368"/>
            <a:ext cx="6400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5678424" y="1801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1801368"/>
            <a:ext cx="256032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318504" y="18013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 bytes: RPM_HIGH | RPM_LOW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258568"/>
            <a:ext cx="219456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" y="22585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carro/status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22585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2569464" y="2258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69080" y="22585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4123944" y="2258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23560" y="2258568"/>
            <a:ext cx="64008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5678424" y="2258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2258568"/>
            <a:ext cx="2560320" cy="43891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504" y="22585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JSON: status, uptime_s, rpm, rssi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2788920"/>
            <a:ext cx="42519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2788920"/>
            <a:ext cx="4251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carro/control — Formato Payload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324612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Byte 0 — Dirección: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0x46 ('F') Adelante  |  0x42 ('B') Atrás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0x4C ('L') Izquierda  |  0x52 ('R') Derecha  |  0x53 ('S') Stop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Byte 1 — Velocidad PWM: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0x00–0xFF (0–255)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Ejemplo: [0x46, 0x80] = Adelante a 128/255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2788920"/>
            <a:ext cx="39776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2788920"/>
            <a:ext cx="39776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carro/telemetria — Formato Payload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37760" y="32461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Byte 0: RPM_HIGH (más significativo)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Byte 1: RPM_LOW (menos significativo)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RPM = (Byte0 &lt;&lt; 8) | Byte1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Ejemplo: [0x01, 0xF4] = 500 RPM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Frecuencia de publicación: cada 250 ms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Hardware &amp; Esquemático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0116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Componente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457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960120"/>
            <a:ext cx="10058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96012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Costo COP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960120"/>
            <a:ext cx="19202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9601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Función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07592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075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ESP32 DevKit V1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1307592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1307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1307592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30759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$35.000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1307592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307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Microcontrolador, WiFi, lógica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691640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6916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Puente H L298N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1691640"/>
            <a:ext cx="4572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1691640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1691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$18.000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691640"/>
            <a:ext cx="19202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6916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Driver motores DC (2A/canal)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075688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07568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Kit chasis + motores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2075688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2075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88920" y="2075688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20756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$40.000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760" y="2075688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2075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Estructura mecánica del vehículo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459736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45973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Sensor HC-020K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2459736"/>
            <a:ext cx="4572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0" y="24597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88920" y="2459736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2834640" y="245973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$8.000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94760" y="2459736"/>
            <a:ext cx="19202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0" y="24597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Disco ranurado + fototransistor RPM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2843784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8437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Pilas AA ×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31720" y="2843784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28437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2843784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8"/>
          <p:cNvSpPr/>
          <p:nvPr/>
        </p:nvSpPr>
        <p:spPr>
          <a:xfrm>
            <a:off x="2834640" y="284378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$20.000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2843784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0" y="284378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Alimentación motores (~6V)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227832"/>
            <a:ext cx="20116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2278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TOTAL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3227832"/>
            <a:ext cx="4572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" name="Text 54"/>
          <p:cNvSpPr/>
          <p:nvPr/>
        </p:nvSpPr>
        <p:spPr>
          <a:xfrm>
            <a:off x="2377440" y="3227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88920" y="3227832"/>
            <a:ext cx="10058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56"/>
          <p:cNvSpPr/>
          <p:nvPr/>
        </p:nvSpPr>
        <p:spPr>
          <a:xfrm>
            <a:off x="2834640" y="322783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$121.000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94760" y="3227832"/>
            <a:ext cx="1920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0" name="Text 58"/>
          <p:cNvSpPr/>
          <p:nvPr/>
        </p:nvSpPr>
        <p:spPr>
          <a:xfrm>
            <a:off x="3840480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0" y="960120"/>
            <a:ext cx="306324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760720" y="960120"/>
            <a:ext cx="306324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Pinout ESP32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06440" y="14264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5" name="Text 63"/>
          <p:cNvSpPr/>
          <p:nvPr/>
        </p:nvSpPr>
        <p:spPr>
          <a:xfrm>
            <a:off x="58521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ENA (Motor A)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95160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GPIO 25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90688" y="14630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PWM motor izq.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06440" y="1883664"/>
            <a:ext cx="2971800" cy="38404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9" name="Text 67"/>
          <p:cNvSpPr/>
          <p:nvPr/>
        </p:nvSpPr>
        <p:spPr>
          <a:xfrm>
            <a:off x="58521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IN1 / IN2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9516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GPIO 26/27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90688" y="1920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Dirección motor izq.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06440" y="23408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3" name="Text 71"/>
          <p:cNvSpPr/>
          <p:nvPr/>
        </p:nvSpPr>
        <p:spPr>
          <a:xfrm>
            <a:off x="585216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ENB (Motor B)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9516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GPIO 33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790688" y="2377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PWM motor der.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806440" y="2798064"/>
            <a:ext cx="2971800" cy="38404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7" name="Text 75"/>
          <p:cNvSpPr/>
          <p:nvPr/>
        </p:nvSpPr>
        <p:spPr>
          <a:xfrm>
            <a:off x="58521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IN3 / IN4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95160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GPIO 12/14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790688" y="2834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Dirección motor der.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806440" y="32552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1" name="Text 79"/>
          <p:cNvSpPr/>
          <p:nvPr/>
        </p:nvSpPr>
        <p:spPr>
          <a:xfrm>
            <a:off x="585216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Sensor RPM OUT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995160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GPIO 34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790688" y="3291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Pulsos digitales ISR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0040" y="4572000"/>
            <a:ext cx="5212080" cy="4114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1148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💰  Costo total del prototipo: $121.000 COP — solución de bajo costo accesible para estudiantes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Watchdog de Seguridad &amp; TLS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Inicio loop()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ESP32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1737360" cy="6400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45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¿Llego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mensaje MQTT?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965960"/>
            <a:ext cx="45720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Actualizar motores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+ Reiniciar timer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737360" cy="6400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5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¿millis - t_ult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&gt; 1500 ms?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01752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0" y="3017520"/>
            <a:ext cx="4572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WATCHDOG: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Frenado de emergencia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69080"/>
            <a:ext cx="45720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69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Fin ciclo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34440" y="173736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2606040"/>
            <a:ext cx="0" cy="41148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1965960"/>
            <a:ext cx="105156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Sí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34440" y="3017520"/>
            <a:ext cx="10515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Sí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34440" y="3657600"/>
            <a:ext cx="0" cy="41148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0" y="1005840"/>
            <a:ext cx="443484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0" y="1005840"/>
            <a:ext cx="443484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1097280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Seguridad TLS / MQTTS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480560" y="1600200"/>
            <a:ext cx="425196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0" y="1636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🔐 Certificado TLS autofirmado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0" y="1901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 propia distribuida a ESP32 y app Android. Puerto 8883 exclusivo para MQTTS.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480560" y="2350008"/>
            <a:ext cx="4251960" cy="65836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0" y="2386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🔑 WiFiClientSecure (ESP32)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0" y="26517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setCACert() carga el certificado en memoria flash para autenticar el broker.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480560" y="3099816"/>
            <a:ext cx="425196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0" y="3136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📱 HiveMQ Client (Android)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0" y="3401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Librería v1.3.3 con soporte TLS nativo; usa SSLSocketFactory configurado con la CA.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480560" y="3849624"/>
            <a:ext cx="4251960" cy="65836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0" y="3886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🛡️ Sin autenticación HTTP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0" y="41513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 endpoint GET /status en red local no requiere credenciales — limitación conocida.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Librerías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ESP32 / Arduino 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44168"/>
            <a:ext cx="416052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89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WiFi.h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3898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Built-in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90088" y="13898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Conexión red WiFi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416052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828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WiFiClientSecure.h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1828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Built-in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0088" y="1828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Cliente TCP con TLS/SSL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21992"/>
            <a:ext cx="416052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PubSubClient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2677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2.8.0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90088" y="2267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Cliente MQTT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60904"/>
            <a:ext cx="416052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2706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WebServer.h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Built-in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90088" y="27066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Servidor HTTP endpoint /status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99816"/>
            <a:ext cx="416052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3145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time.h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8840" y="31455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C std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90088" y="31455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Sincronización NTP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960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Android / Kotlin (Gradle)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344168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13807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HiveMQ MQTT Client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138074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1.3.3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16368" y="138074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MQTT con TLS nativo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1719072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175564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Jetpack Compose BOM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0" y="175564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2024.12.01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16368" y="175564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UI declarativa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2093976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213055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material3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13055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BOM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16368" y="213055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Material Design 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2468880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250545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lifecycle-viewmodel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0" y="250545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2.8.7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16368" y="2505456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ViewModel + Compose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2843784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4873752" y="288036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lifecycle-runtime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288036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2.8.7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16368" y="288036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collectAsStateWithLifecycle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3218688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4873752" y="325526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accompanist-permissions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325526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0.36.0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16368" y="32552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Permisos en runtime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3593592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4" name="Text 52"/>
          <p:cNvSpPr/>
          <p:nvPr/>
        </p:nvSpPr>
        <p:spPr>
          <a:xfrm>
            <a:off x="4873752" y="363016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activity-compose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83680" y="36301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1.9.3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16368" y="363016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Activity con Compose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Limitaciones &amp; Mejoras Futuras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⚠  Limitaciones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353312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371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Ruido HC-020K: varianza ±300 RPM por vibración + bouncing eléctrico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792224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 solo usuario simultáneo (watchdog conflicto con múltiples clientes)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31136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31136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IP dinámica del ESP32 (puede cambiar entre reinicios)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670048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 persistencia de telemetría (datos perdidos si app está cerrada)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108960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Certificado TLS autofirmado (distribución manual de ca.crt)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547872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566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Sin autenticación en GET /status (cualquier device en red local)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986784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Autonomía ~30–60 min con 4 pilas AA a plena carga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960120"/>
            <a:ext cx="4023360" cy="3657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✨  Mejoras Futuras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353312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1353312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1371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Filtro media móvil en RPM (mayor impacto, menor esfuerzo)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1792224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1792224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4882896" y="18105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Condensador 100nF anti-rebote por hardware en sensor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231136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2231136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4882896" y="22494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InfluxDB / TimescaleDB para historial de telemetría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670048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4800600" y="2670048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4882896" y="26883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Grafana / Node-RED vía broker MQTT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108960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Shape 41"/>
          <p:cNvSpPr/>
          <p:nvPr/>
        </p:nvSpPr>
        <p:spPr>
          <a:xfrm>
            <a:off x="4800600" y="3108960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4" name="Text 42"/>
          <p:cNvSpPr/>
          <p:nvPr/>
        </p:nvSpPr>
        <p:spPr>
          <a:xfrm>
            <a:off x="4882896" y="31272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Certificado Let's Encrypt (eliminar distribución manual)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547872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4800600" y="3547872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4882896" y="35661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Joystick virtual analógico (dirección + velocidad simultánea)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3986784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7"/>
          <p:cNvSpPr/>
          <p:nvPr/>
        </p:nvSpPr>
        <p:spPr>
          <a:xfrm>
            <a:off x="4800600" y="3986784"/>
            <a:ext cx="36576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4882896" y="40050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OTA (ArduinoOTA) para updates sin cable USB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✅ Objetivo alcanzado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Prototipo funcional de vehículo IoT con control remoto y telemetría en tiempo real sobre infraestructura cloud real (AWS EC2).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🔒 Seguridad implementada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Comunicación cifrada end-to-end con TLS en broker Mosquitto, replicando prácticas de producción en un contexto académico.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📊 Telemetría observable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0216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RPM medidas y transmitidas cada 250 ms permiten monitorear el comportamiento del vehículo desde cualquier ubicación con internet.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18488" y="31089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18488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709928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🛡️ Robustez ante fallos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09928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 watchdog de 1.5 s garantiza frenado de emergencia automático ante pérdida de señal, evitando comportamiento indefinido.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62856" y="31089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62856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296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📚 Aprendizaje integral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54296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 proyecto integra firmware embebido, desarrollo Android, infraestructura cloud y protocolos IoT en una sola solución cohesionada.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2540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</a:rPr>
              <a:t>¡Gracias!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Carro RC IoT — ESP32 + MQTT + Android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Internet de las Cosas · Universidad de La Sabana ·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Juan Felipe Cárdenas González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Juan Felipe López Moncada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Samuel Guerrero Arcos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457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ESP32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926080"/>
            <a:ext cx="4572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224028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MQTT TLS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0" y="2926080"/>
            <a:ext cx="45720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AWS EC2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532120" y="2926080"/>
            <a:ext cx="45720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Jetpack Compose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2926080"/>
            <a:ext cx="45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HC-020K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Carro RC IoT — ESP32 + MQTT + Android</dc:title>
  <dc:subject>PptxGenJS Presentation</dc:subject>
  <dc:creator>Internet de las Cosas — Universidad de La Sabana</dc:creator>
  <cp:lastModifiedBy>Internet de las Cosas — Universidad de La Sabana</cp:lastModifiedBy>
  <cp:revision>1</cp:revision>
  <dcterms:created xsi:type="dcterms:W3CDTF">2026-05-24T00:55:58Z</dcterms:created>
  <dcterms:modified xsi:type="dcterms:W3CDTF">2026-05-24T00:55:58Z</dcterms:modified>
</cp:coreProperties>
</file>